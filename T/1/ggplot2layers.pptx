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F39"/>
    <a:srgbClr val="A3462E"/>
    <a:srgbClr val="817D83"/>
    <a:srgbClr val="BDBAAA"/>
    <a:srgbClr val="CFAC9C"/>
    <a:srgbClr val="A4666A"/>
    <a:srgbClr val="401914"/>
    <a:srgbClr val="4C837A"/>
    <a:srgbClr val="9ADFB0"/>
    <a:srgbClr val="52C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43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09678-AC73-41B8-8C91-1B5E94309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A73139-A17D-431E-8EC0-1C244FD98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9FDB51-3942-43C1-BCF8-951C8B52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44700A-D7F5-48B0-B743-2C527196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C3E5D9-D789-4CF5-8F26-CFCCB465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856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9A2F0-70BE-4437-A913-F5EBBAB6A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694C2-D780-40B7-8C7B-4F96D569E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4E941-BC73-4D9E-A1BE-89A857B4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7B3777-EDB5-4EB5-A5A2-F1796E44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85277D-50B7-4EBF-A9FF-08DBE2E9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07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55A39-CE03-427C-A45F-04D417C4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6ECFD-FA4B-4657-9C61-62AA48ABE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B0373C-A0FC-49A2-AA8B-81BA40D3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964F8B-901B-473C-9E1F-ED48FBA6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F01D0-96B9-4A03-9031-C293B93C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744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9CBE4-28E8-4F0F-91CF-6ABB9A4E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8AC9A-1CD7-4876-841D-656BFD332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A19F86-B245-42EC-9F48-30717D3E7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C6E217-E086-4EA8-ACA4-BF9FA9C8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63E64-6C08-4AC8-8899-877FDB02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D9B882-DAE1-4532-9DE9-4CF695AE2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0563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5D703-F4AC-47A8-BB8C-E78F4BB1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3DF5DC-C11A-4172-B3AF-811617D48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B8BC33-910A-442A-9444-B435A5DAA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3E0688-4BAE-425C-A30C-3FE46F5EA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9C31DB-0168-43C5-9208-D1F9DE72A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710C6B-55BF-4A5A-BE36-080D4FF47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8F31C9A-7A19-4F29-9293-44E9E6AB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ACCF79-F378-4544-8AF3-023790F9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8169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085BE-6DFA-43AA-A3F6-89A1C8DC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781A02-0672-419C-A339-73549444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003669-0015-4C52-BCE2-F528483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9BE817-F129-4537-B38E-FD1224F8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031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2EFE9D6-120E-45E7-8C57-04A48421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E2FB51-D54C-48B0-AB78-24FEE005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CA19B1-31C1-4FB6-B846-BD4A4779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8980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2BE40-6081-45E5-BC57-34981FC5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1E1040-0C0C-45EC-8CA2-275E761C4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E90DED-194D-43FA-9CB9-3714FDC95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79012B-23FB-4103-9B05-9E9D7ACC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FB59FF-0BF1-498E-86F8-C6766A54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EF6DBA-A96A-4E2E-9567-534B4635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869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A9F9D-A9B4-45F4-8614-64897A1A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BD16A6-1105-45A4-8F97-BCD002E2A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0B6CAF-F867-4437-9D95-D6B7AD7C1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F96915-6C5A-404C-98B2-0E0F6DB2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C3BE8-6119-4CAE-8B3F-2CAF2B8B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A7AFB6-B13A-4886-BDC6-FC244E07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911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4712E-4AD6-4BDA-AC77-993C3756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3A2CE3-8327-4C15-A01C-528A23B33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35B192-B963-4428-AC53-AA725CAE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D390CE-4CB0-4EA7-9B25-8A333948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0159D6-078B-43D6-AD4C-87972D4B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677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299ED7-45A7-4FD4-93F4-EA2B3D15F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44D257-17D9-4173-AD7E-E73B2B236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30E0E3-9CDE-4CAD-AFBD-69A575CA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2FD28D-5BCB-40ED-B249-1E2D622F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9C10B1-3E8D-4A54-BE3C-BD261351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919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9FB8BF0-36B6-4249-A0B0-7DBBC754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E30062-55E4-43F3-AE88-7738FC6AF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568A9A-44DA-490C-A4BE-EAF41342D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596CA-7B34-4A1A-A0CD-1E8F83AE8AC0}" type="datetimeFigureOut">
              <a:rPr lang="es-ES" smtClean="0"/>
              <a:t>10/08/2019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E45075-7577-49D4-A963-B38428D28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CB36B-3E6E-4A0A-8F9E-35FD42032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71172-0C63-474D-91C5-E5117B65E2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447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ralelogramo 13">
            <a:extLst>
              <a:ext uri="{FF2B5EF4-FFF2-40B4-BE49-F238E27FC236}">
                <a16:creationId xmlns:a16="http://schemas.microsoft.com/office/drawing/2014/main" id="{0A673C6B-ADC2-4598-81DA-A5073BB65231}"/>
              </a:ext>
            </a:extLst>
          </p:cNvPr>
          <p:cNvSpPr/>
          <p:nvPr/>
        </p:nvSpPr>
        <p:spPr>
          <a:xfrm flipV="1">
            <a:off x="8722822" y="4790899"/>
            <a:ext cx="3336175" cy="1130531"/>
          </a:xfrm>
          <a:prstGeom prst="parallelogram">
            <a:avLst>
              <a:gd name="adj" fmla="val 51471"/>
            </a:avLst>
          </a:prstGeom>
          <a:solidFill>
            <a:srgbClr val="3D3F3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B3E63AEF-4C30-4482-BD6D-315AD1EF96BB}"/>
              </a:ext>
            </a:extLst>
          </p:cNvPr>
          <p:cNvSpPr/>
          <p:nvPr/>
        </p:nvSpPr>
        <p:spPr>
          <a:xfrm flipV="1">
            <a:off x="8722822" y="4092171"/>
            <a:ext cx="3336175" cy="1130531"/>
          </a:xfrm>
          <a:prstGeom prst="parallelogram">
            <a:avLst>
              <a:gd name="adj" fmla="val 51471"/>
            </a:avLst>
          </a:prstGeom>
          <a:solidFill>
            <a:srgbClr val="817D8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7E14DAB8-1C0C-494E-9061-0487E40D8141}"/>
              </a:ext>
            </a:extLst>
          </p:cNvPr>
          <p:cNvSpPr/>
          <p:nvPr/>
        </p:nvSpPr>
        <p:spPr>
          <a:xfrm flipV="1">
            <a:off x="8722822" y="3393440"/>
            <a:ext cx="3336175" cy="1130531"/>
          </a:xfrm>
          <a:prstGeom prst="parallelogram">
            <a:avLst>
              <a:gd name="adj" fmla="val 51471"/>
            </a:avLst>
          </a:prstGeom>
          <a:solidFill>
            <a:srgbClr val="BDBAAA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CAF3ED45-809E-4CEE-B32F-FA7367B98108}"/>
              </a:ext>
            </a:extLst>
          </p:cNvPr>
          <p:cNvSpPr/>
          <p:nvPr/>
        </p:nvSpPr>
        <p:spPr>
          <a:xfrm flipV="1">
            <a:off x="8722822" y="2694709"/>
            <a:ext cx="3336175" cy="1130531"/>
          </a:xfrm>
          <a:prstGeom prst="parallelogram">
            <a:avLst>
              <a:gd name="adj" fmla="val 51471"/>
            </a:avLst>
          </a:prstGeom>
          <a:solidFill>
            <a:srgbClr val="CFAC9C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0" name="Paralelogramo 9">
            <a:extLst>
              <a:ext uri="{FF2B5EF4-FFF2-40B4-BE49-F238E27FC236}">
                <a16:creationId xmlns:a16="http://schemas.microsoft.com/office/drawing/2014/main" id="{7FD6474B-995F-4632-A514-FEB2AC18D19C}"/>
              </a:ext>
            </a:extLst>
          </p:cNvPr>
          <p:cNvSpPr/>
          <p:nvPr/>
        </p:nvSpPr>
        <p:spPr>
          <a:xfrm flipV="1">
            <a:off x="8722822" y="1995978"/>
            <a:ext cx="3336175" cy="1130531"/>
          </a:xfrm>
          <a:prstGeom prst="parallelogram">
            <a:avLst>
              <a:gd name="adj" fmla="val 51471"/>
            </a:avLst>
          </a:prstGeom>
          <a:solidFill>
            <a:srgbClr val="A4666A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9" name="Paralelogramo 8">
            <a:extLst>
              <a:ext uri="{FF2B5EF4-FFF2-40B4-BE49-F238E27FC236}">
                <a16:creationId xmlns:a16="http://schemas.microsoft.com/office/drawing/2014/main" id="{2BBC8577-986D-4C08-8BE0-05B3BF21FF92}"/>
              </a:ext>
            </a:extLst>
          </p:cNvPr>
          <p:cNvSpPr/>
          <p:nvPr/>
        </p:nvSpPr>
        <p:spPr>
          <a:xfrm flipV="1">
            <a:off x="8722822" y="1297247"/>
            <a:ext cx="3336175" cy="1130531"/>
          </a:xfrm>
          <a:prstGeom prst="parallelogram">
            <a:avLst>
              <a:gd name="adj" fmla="val 51471"/>
            </a:avLst>
          </a:prstGeom>
          <a:solidFill>
            <a:srgbClr val="40191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2" name="Paralelogramo 1">
            <a:extLst>
              <a:ext uri="{FF2B5EF4-FFF2-40B4-BE49-F238E27FC236}">
                <a16:creationId xmlns:a16="http://schemas.microsoft.com/office/drawing/2014/main" id="{750075F9-FE93-4E24-BD6A-142AA98072A5}"/>
              </a:ext>
            </a:extLst>
          </p:cNvPr>
          <p:cNvSpPr/>
          <p:nvPr/>
        </p:nvSpPr>
        <p:spPr>
          <a:xfrm flipV="1">
            <a:off x="8722822" y="598516"/>
            <a:ext cx="3336175" cy="1130531"/>
          </a:xfrm>
          <a:prstGeom prst="parallelogram">
            <a:avLst>
              <a:gd name="adj" fmla="val 51471"/>
            </a:avLst>
          </a:prstGeom>
          <a:solidFill>
            <a:srgbClr val="A3462E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463E509-8955-48AB-AF28-B4BDB4D88714}"/>
              </a:ext>
            </a:extLst>
          </p:cNvPr>
          <p:cNvSpPr txBox="1"/>
          <p:nvPr/>
        </p:nvSpPr>
        <p:spPr>
          <a:xfrm>
            <a:off x="5913120" y="1004859"/>
            <a:ext cx="2261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A3462E"/>
                </a:solidFill>
                <a:latin typeface="Fira Sans SemiBold" panose="020B0603050000020004" pitchFamily="34" charset="0"/>
              </a:rPr>
              <a:t>Theme</a:t>
            </a:r>
            <a:endParaRPr lang="en-US" dirty="0">
              <a:solidFill>
                <a:srgbClr val="A3462E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9274215-01B8-4AFD-A48E-F3C1DFB574AC}"/>
              </a:ext>
            </a:extLst>
          </p:cNvPr>
          <p:cNvSpPr txBox="1"/>
          <p:nvPr/>
        </p:nvSpPr>
        <p:spPr>
          <a:xfrm>
            <a:off x="5137266" y="1659101"/>
            <a:ext cx="3036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401914"/>
                </a:solidFill>
                <a:latin typeface="Fira Sans SemiBold" panose="020B0603050000020004" pitchFamily="34" charset="0"/>
              </a:rPr>
              <a:t>Facets</a:t>
            </a:r>
            <a:endParaRPr lang="en-US" dirty="0">
              <a:solidFill>
                <a:srgbClr val="401914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3A37903-2D28-4773-8CC5-9ECC1D2599EE}"/>
              </a:ext>
            </a:extLst>
          </p:cNvPr>
          <p:cNvSpPr txBox="1"/>
          <p:nvPr/>
        </p:nvSpPr>
        <p:spPr>
          <a:xfrm>
            <a:off x="5137266" y="2313343"/>
            <a:ext cx="3036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A4666A"/>
                </a:solidFill>
                <a:latin typeface="Fira Sans SemiBold" panose="020B0603050000020004" pitchFamily="34" charset="0"/>
              </a:rPr>
              <a:t>Coordinates</a:t>
            </a:r>
            <a:endParaRPr lang="en-US" dirty="0">
              <a:solidFill>
                <a:srgbClr val="A4666A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B8F1B81-BFCA-4CBE-A683-66DB89465E62}"/>
              </a:ext>
            </a:extLst>
          </p:cNvPr>
          <p:cNvSpPr txBox="1"/>
          <p:nvPr/>
        </p:nvSpPr>
        <p:spPr>
          <a:xfrm>
            <a:off x="5137266" y="2967585"/>
            <a:ext cx="3036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CFAC9C"/>
                </a:solidFill>
                <a:latin typeface="Fira Sans SemiBold" panose="020B0603050000020004" pitchFamily="34" charset="0"/>
              </a:rPr>
              <a:t>Statistics</a:t>
            </a:r>
            <a:endParaRPr lang="en-US" dirty="0">
              <a:solidFill>
                <a:srgbClr val="CFAC9C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C2AB872-4F99-4E60-AD61-268D49B8A2C8}"/>
              </a:ext>
            </a:extLst>
          </p:cNvPr>
          <p:cNvSpPr txBox="1"/>
          <p:nvPr/>
        </p:nvSpPr>
        <p:spPr>
          <a:xfrm>
            <a:off x="5137266" y="3621827"/>
            <a:ext cx="3036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BDBAAA"/>
                </a:solidFill>
                <a:latin typeface="Fira Sans SemiBold" panose="020B0603050000020004" pitchFamily="34" charset="0"/>
              </a:rPr>
              <a:t>Geometries</a:t>
            </a:r>
            <a:endParaRPr lang="en-US" dirty="0">
              <a:solidFill>
                <a:srgbClr val="BDBAAA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FCB343D-B742-4961-AEDF-B1BBE49DE648}"/>
              </a:ext>
            </a:extLst>
          </p:cNvPr>
          <p:cNvSpPr txBox="1"/>
          <p:nvPr/>
        </p:nvSpPr>
        <p:spPr>
          <a:xfrm>
            <a:off x="5137266" y="4276069"/>
            <a:ext cx="3036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817D83"/>
                </a:solidFill>
                <a:latin typeface="Fira Sans SemiBold" panose="020B0603050000020004" pitchFamily="34" charset="0"/>
              </a:rPr>
              <a:t>Aesthetics</a:t>
            </a:r>
            <a:endParaRPr lang="en-US" dirty="0">
              <a:solidFill>
                <a:srgbClr val="817D83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987D97F-064F-4591-B921-3964ECD9F0CC}"/>
              </a:ext>
            </a:extLst>
          </p:cNvPr>
          <p:cNvSpPr txBox="1"/>
          <p:nvPr/>
        </p:nvSpPr>
        <p:spPr>
          <a:xfrm>
            <a:off x="5137266" y="4930314"/>
            <a:ext cx="3036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3D3F39"/>
                </a:solidFill>
                <a:latin typeface="Fira Sans SemiBold" panose="020B0603050000020004" pitchFamily="34" charset="0"/>
              </a:rPr>
              <a:t>Data</a:t>
            </a:r>
            <a:endParaRPr lang="en-US" dirty="0">
              <a:solidFill>
                <a:srgbClr val="3D3F39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36BE122-7C98-40BD-BE88-87E40D3F5E37}"/>
              </a:ext>
            </a:extLst>
          </p:cNvPr>
          <p:cNvSpPr txBox="1"/>
          <p:nvPr/>
        </p:nvSpPr>
        <p:spPr>
          <a:xfrm>
            <a:off x="69272" y="1066413"/>
            <a:ext cx="506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A3462E"/>
                </a:solidFill>
              </a:rPr>
              <a:t>Describes all the non-data ink</a:t>
            </a:r>
            <a:endParaRPr lang="en-US" sz="1400" dirty="0">
              <a:solidFill>
                <a:srgbClr val="A3462E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DA63AC6-E2F4-493D-9361-EBB134B5FAF7}"/>
              </a:ext>
            </a:extLst>
          </p:cNvPr>
          <p:cNvSpPr txBox="1"/>
          <p:nvPr/>
        </p:nvSpPr>
        <p:spPr>
          <a:xfrm>
            <a:off x="133003" y="1720655"/>
            <a:ext cx="50679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401914"/>
                </a:solidFill>
              </a:rPr>
              <a:t>Rows and columns of sub-plots</a:t>
            </a:r>
          </a:p>
          <a:p>
            <a:pPr algn="r"/>
            <a:endParaRPr lang="en-US" sz="1400" dirty="0">
              <a:solidFill>
                <a:srgbClr val="401914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0994E73-7C71-4112-8369-D8A92E71128B}"/>
              </a:ext>
            </a:extLst>
          </p:cNvPr>
          <p:cNvSpPr txBox="1"/>
          <p:nvPr/>
        </p:nvSpPr>
        <p:spPr>
          <a:xfrm>
            <a:off x="133003" y="2374898"/>
            <a:ext cx="506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A4666A"/>
                </a:solidFill>
              </a:rPr>
              <a:t>Plotting space for the data</a:t>
            </a:r>
            <a:endParaRPr lang="en-US" sz="1400" dirty="0">
              <a:solidFill>
                <a:srgbClr val="A4666A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FC1F554-1B62-4EF5-8284-51FBF79FF070}"/>
              </a:ext>
            </a:extLst>
          </p:cNvPr>
          <p:cNvSpPr txBox="1"/>
          <p:nvPr/>
        </p:nvSpPr>
        <p:spPr>
          <a:xfrm>
            <a:off x="252152" y="3029141"/>
            <a:ext cx="50679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sz="2400" dirty="0">
                <a:solidFill>
                  <a:srgbClr val="CFAC9C"/>
                </a:solidFill>
              </a:rPr>
              <a:t>Statistical models and summaries</a:t>
            </a:r>
            <a:endParaRPr lang="en-US" sz="1400" dirty="0">
              <a:solidFill>
                <a:srgbClr val="CFAC9C"/>
              </a:solidFill>
            </a:endParaRPr>
          </a:p>
          <a:p>
            <a:pPr algn="r"/>
            <a:endParaRPr lang="en-US" sz="1400" dirty="0">
              <a:solidFill>
                <a:srgbClr val="CFAC9C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52246A0-D0C8-4FCD-8110-89F879A3A300}"/>
              </a:ext>
            </a:extLst>
          </p:cNvPr>
          <p:cNvSpPr txBox="1"/>
          <p:nvPr/>
        </p:nvSpPr>
        <p:spPr>
          <a:xfrm>
            <a:off x="252152" y="3683384"/>
            <a:ext cx="506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BDBAAA"/>
                </a:solidFill>
              </a:rPr>
              <a:t>Shapes used to represent the data</a:t>
            </a:r>
            <a:endParaRPr lang="en-US" sz="1400" dirty="0">
              <a:solidFill>
                <a:srgbClr val="BDBAAA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9883215-83B1-43E2-BF95-78E993528FA7}"/>
              </a:ext>
            </a:extLst>
          </p:cNvPr>
          <p:cNvSpPr txBox="1"/>
          <p:nvPr/>
        </p:nvSpPr>
        <p:spPr>
          <a:xfrm>
            <a:off x="252152" y="4337627"/>
            <a:ext cx="506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817D83"/>
                </a:solidFill>
              </a:rPr>
              <a:t>Scales onto which data is mapped</a:t>
            </a:r>
            <a:endParaRPr lang="en-US" sz="1400" dirty="0">
              <a:solidFill>
                <a:srgbClr val="817D83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3C84759-F75E-4873-A192-AFA9FA04C9BF}"/>
              </a:ext>
            </a:extLst>
          </p:cNvPr>
          <p:cNvSpPr txBox="1"/>
          <p:nvPr/>
        </p:nvSpPr>
        <p:spPr>
          <a:xfrm>
            <a:off x="252152" y="4991868"/>
            <a:ext cx="506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3D3F39"/>
                </a:solidFill>
              </a:rPr>
              <a:t>The actual variables to be plotted</a:t>
            </a:r>
            <a:endParaRPr lang="en-US" sz="1400" dirty="0">
              <a:solidFill>
                <a:srgbClr val="3D3F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0565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8">
      <a:dk1>
        <a:srgbClr val="2A2A2A"/>
      </a:dk1>
      <a:lt1>
        <a:sysClr val="window" lastClr="FFFFFF"/>
      </a:lt1>
      <a:dk2>
        <a:srgbClr val="404040"/>
      </a:dk2>
      <a:lt2>
        <a:srgbClr val="F9D697"/>
      </a:lt2>
      <a:accent1>
        <a:srgbClr val="4C837A"/>
      </a:accent1>
      <a:accent2>
        <a:srgbClr val="E0D5C9"/>
      </a:accent2>
      <a:accent3>
        <a:srgbClr val="9ADFB0"/>
      </a:accent3>
      <a:accent4>
        <a:srgbClr val="E07761"/>
      </a:accent4>
      <a:accent5>
        <a:srgbClr val="702F34"/>
      </a:accent5>
      <a:accent6>
        <a:srgbClr val="F5AC50"/>
      </a:accent6>
      <a:hlink>
        <a:srgbClr val="0563C1"/>
      </a:hlink>
      <a:folHlink>
        <a:srgbClr val="954F72"/>
      </a:folHlink>
    </a:clrScheme>
    <a:fontScheme name="Personalizado 10">
      <a:majorFont>
        <a:latin typeface="Fira Sans Black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44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Fira Sans</vt:lpstr>
      <vt:lpstr>Fira Sans Black</vt:lpstr>
      <vt:lpstr>Fira Sans SemiBold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Marta Coronado Zamora</dc:creator>
  <cp:lastModifiedBy>Marta Coronado Zamora</cp:lastModifiedBy>
  <cp:revision>6</cp:revision>
  <dcterms:created xsi:type="dcterms:W3CDTF">2019-08-10T08:50:16Z</dcterms:created>
  <dcterms:modified xsi:type="dcterms:W3CDTF">2019-08-11T13:24:42Z</dcterms:modified>
</cp:coreProperties>
</file>